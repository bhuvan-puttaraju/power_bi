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sldIdLst>
    <p:sldId id="256" r:id="rId2"/>
    <p:sldId id="257" r:id="rId3"/>
    <p:sldId id="258" r:id="rId4"/>
    <p:sldId id="260" r:id="rId5"/>
    <p:sldId id="266"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6" d="100"/>
          <a:sy n="76" d="100"/>
        </p:scale>
        <p:origin x="1000" y="-2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0817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9149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7993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160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5778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653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7000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019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6144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2215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39214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1401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46540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5079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6979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9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72249116"/>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Paris Olympics 2024 – Power BI Dashboard</a:t>
            </a:r>
          </a:p>
        </p:txBody>
      </p:sp>
      <p:sp>
        <p:nvSpPr>
          <p:cNvPr id="3" name="Subtitle 2"/>
          <p:cNvSpPr>
            <a:spLocks noGrp="1"/>
          </p:cNvSpPr>
          <p:nvPr>
            <p:ph type="subTitle" idx="1"/>
          </p:nvPr>
        </p:nvSpPr>
        <p:spPr/>
        <p:txBody>
          <a:bodyPr/>
          <a:lstStyle/>
          <a:p>
            <a:r>
              <a:rPr lang="en-IN" dirty="0"/>
              <a:t>Capstone</a:t>
            </a:r>
            <a:r>
              <a:rPr dirty="0"/>
              <a:t> Project</a:t>
            </a:r>
            <a:r>
              <a:rPr lang="en-IN" dirty="0"/>
              <a:t> 1</a:t>
            </a:r>
            <a:endParaRPr dirty="0"/>
          </a:p>
          <a:p>
            <a:r>
              <a:rPr dirty="0"/>
              <a:t>By Bhuvan 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4" name="Rectangle 1">
            <a:extLst>
              <a:ext uri="{FF2B5EF4-FFF2-40B4-BE49-F238E27FC236}">
                <a16:creationId xmlns:a16="http://schemas.microsoft.com/office/drawing/2014/main" id="{4825BB7A-D793-E14B-49A6-704B0DA59CF0}"/>
              </a:ext>
            </a:extLst>
          </p:cNvPr>
          <p:cNvSpPr>
            <a:spLocks noGrp="1" noChangeArrowheads="1"/>
          </p:cNvSpPr>
          <p:nvPr>
            <p:ph idx="1"/>
          </p:nvPr>
        </p:nvSpPr>
        <p:spPr bwMode="auto">
          <a:xfrm>
            <a:off x="457199" y="1270000"/>
            <a:ext cx="8229601" cy="491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None/>
            </a:pPr>
            <a:r>
              <a:rPr lang="en-US" sz="1800" dirty="0"/>
              <a:t>Olympic data related to athletes, medals, countries, and events is highly fragmented and complex, as it exists across multiple datasets, making integration and comprehensive performance analysis difficult. Traditional static reports and tables further limit analytical visibility by not supporting interactive exploration of data based on parameters such as country, sport, gender, or age category. As a result, identifying key performance indicators, medal distribution patterns, and athlete participation trends becomes time-consuming and inefficient. To address these challenges, stakeholders such as sports authorities, media teams, and sponsors require decision-oriented and insightful visualizations that can transform raw Olympic data into meaningful and actionable insights.</a:t>
            </a:r>
          </a:p>
          <a:p>
            <a:pPr marL="0" lvl="0" indent="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buNone/>
            </a:pPr>
            <a:r>
              <a:rPr lang="en-US" sz="1800" b="1" dirty="0"/>
              <a:t>Goal of the Project</a:t>
            </a:r>
          </a:p>
          <a:p>
            <a:pPr marL="0" indent="0">
              <a:buNone/>
            </a:pPr>
            <a:r>
              <a:rPr lang="en-US" sz="1800" dirty="0"/>
              <a:t>The goal of this project is to develop an interactive Power BI dashboard that integrates and analyzes Paris Olympics 2024 data to provide clear, dynamic, and decision-oriented insights into athlete participation, medal distribution, and country-wise performance.</a:t>
            </a:r>
          </a:p>
          <a:p>
            <a:pPr marL="0" lvl="0" indent="0" defTabSz="91440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Aim of the Project</a:t>
            </a:r>
          </a:p>
        </p:txBody>
      </p:sp>
      <p:sp>
        <p:nvSpPr>
          <p:cNvPr id="5" name="Rectangle 2">
            <a:extLst>
              <a:ext uri="{FF2B5EF4-FFF2-40B4-BE49-F238E27FC236}">
                <a16:creationId xmlns:a16="http://schemas.microsoft.com/office/drawing/2014/main" id="{ABFF9F17-CA22-838E-64D5-3ABCB62EA0C6}"/>
              </a:ext>
            </a:extLst>
          </p:cNvPr>
          <p:cNvSpPr>
            <a:spLocks noGrp="1" noChangeArrowheads="1"/>
          </p:cNvSpPr>
          <p:nvPr>
            <p:ph idx="1"/>
          </p:nvPr>
        </p:nvSpPr>
        <p:spPr bwMode="auto">
          <a:xfrm>
            <a:off x="363557" y="1747699"/>
            <a:ext cx="865925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 an Integrated Olympic Analytics Dashboard</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To design and implement an interactive Power BI dashboard that consolidates athlete, medal, country, and event data into a single analytical platform.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Enable Interactive and Dynamic Data Exploration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To allow users to explore Olympic data dynamically using filters and slicers based on country, sport, gender, and age category.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Analyze Performance and Participation Trends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To identify medal distribution patterns, top-performing countries, and athlete participation trends through KPI-driven visualizations.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 Data-Driven Decision Making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To provide meaningful visual insights that assist sports authorities, analysts, and sponsors in making informed strategic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DAX Functions Used</a:t>
            </a:r>
          </a:p>
        </p:txBody>
      </p:sp>
      <p:sp>
        <p:nvSpPr>
          <p:cNvPr id="4" name="Rectangle 1">
            <a:extLst>
              <a:ext uri="{FF2B5EF4-FFF2-40B4-BE49-F238E27FC236}">
                <a16:creationId xmlns:a16="http://schemas.microsoft.com/office/drawing/2014/main" id="{BE43553C-CDCB-144B-2D61-917B411749FD}"/>
              </a:ext>
            </a:extLst>
          </p:cNvPr>
          <p:cNvSpPr>
            <a:spLocks noGrp="1" noChangeArrowheads="1"/>
          </p:cNvSpPr>
          <p:nvPr>
            <p:ph idx="1"/>
          </p:nvPr>
        </p:nvSpPr>
        <p:spPr bwMode="auto">
          <a:xfrm>
            <a:off x="373310" y="1061187"/>
            <a:ext cx="852154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Country_playing</a:t>
            </a:r>
            <a:r>
              <a:rPr kumimoji="0" lang="en-US" altLang="en-US" sz="1600" b="0" i="0" u="none" strike="noStrike" cap="none" normalizeH="0" baseline="0" dirty="0">
                <a:ln>
                  <a:noFill/>
                </a:ln>
                <a:solidFill>
                  <a:schemeClr val="tx1"/>
                </a:solidFill>
                <a:effectLst/>
                <a:latin typeface="Arial" panose="020B0604020202020204" pitchFamily="34" charset="0"/>
              </a:rPr>
              <a:t> – Calculates the total number of countries participating in the Paris Olympics 2024.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Playing_Teams</a:t>
            </a:r>
            <a:r>
              <a:rPr kumimoji="0" lang="en-US" altLang="en-US" sz="1600" b="0" i="0" u="none" strike="noStrike" cap="none" normalizeH="0" baseline="0" dirty="0">
                <a:ln>
                  <a:noFill/>
                </a:ln>
                <a:solidFill>
                  <a:schemeClr val="tx1"/>
                </a:solidFill>
                <a:effectLst/>
                <a:latin typeface="Arial" panose="020B0604020202020204" pitchFamily="34" charset="0"/>
              </a:rPr>
              <a:t> – Counts the total number of teams participating across all Olympic sports.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Total_Athletes</a:t>
            </a:r>
            <a:r>
              <a:rPr kumimoji="0" lang="en-US" altLang="en-US" sz="1600" b="0" i="0" u="none" strike="noStrike" cap="none" normalizeH="0" baseline="0" dirty="0">
                <a:ln>
                  <a:noFill/>
                </a:ln>
                <a:solidFill>
                  <a:schemeClr val="tx1"/>
                </a:solidFill>
                <a:effectLst/>
                <a:latin typeface="Arial" panose="020B0604020202020204" pitchFamily="34" charset="0"/>
              </a:rPr>
              <a:t> – Computes the total number of athletes participating in the Olympics.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Total_Male_Athletes</a:t>
            </a:r>
            <a:r>
              <a:rPr kumimoji="0" lang="en-US" altLang="en-US" sz="1600" b="0" i="0" u="none" strike="noStrike" cap="none" normalizeH="0" baseline="0" dirty="0">
                <a:ln>
                  <a:noFill/>
                </a:ln>
                <a:solidFill>
                  <a:schemeClr val="tx1"/>
                </a:solidFill>
                <a:effectLst/>
                <a:latin typeface="Arial" panose="020B0604020202020204" pitchFamily="34" charset="0"/>
              </a:rPr>
              <a:t> – Calculates the total number of male athletes in the tournament.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Total_Female_Athletes</a:t>
            </a:r>
            <a:r>
              <a:rPr kumimoji="0" lang="en-US" altLang="en-US" sz="1600" b="0" i="0" u="none" strike="noStrike" cap="none" normalizeH="0" baseline="0" dirty="0">
                <a:ln>
                  <a:noFill/>
                </a:ln>
                <a:solidFill>
                  <a:schemeClr val="tx1"/>
                </a:solidFill>
                <a:effectLst/>
                <a:latin typeface="Arial" panose="020B0604020202020204" pitchFamily="34" charset="0"/>
              </a:rPr>
              <a:t> – Calculates the total number of female athletes participating in the Olympics.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Total_Gold_Medals</a:t>
            </a:r>
            <a:r>
              <a:rPr kumimoji="0" lang="en-US" altLang="en-US" sz="1600" b="0" i="0" u="none" strike="noStrike" cap="none" normalizeH="0" baseline="0" dirty="0">
                <a:ln>
                  <a:noFill/>
                </a:ln>
                <a:solidFill>
                  <a:schemeClr val="tx1"/>
                </a:solidFill>
                <a:effectLst/>
                <a:latin typeface="Arial" panose="020B0604020202020204" pitchFamily="34" charset="0"/>
              </a:rPr>
              <a:t> – Computes the total number of gold medals won across all countries.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Total_Silver_Medals</a:t>
            </a:r>
            <a:r>
              <a:rPr kumimoji="0" lang="en-US" altLang="en-US" sz="1600" b="0" i="0" u="none" strike="noStrike" cap="none" normalizeH="0" baseline="0" dirty="0">
                <a:ln>
                  <a:noFill/>
                </a:ln>
                <a:solidFill>
                  <a:schemeClr val="tx1"/>
                </a:solidFill>
                <a:effectLst/>
                <a:latin typeface="Arial" panose="020B0604020202020204" pitchFamily="34" charset="0"/>
              </a:rPr>
              <a:t> – Calculates the total number of silver medals awarded in the Olympics.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Total_Bronze_Medals</a:t>
            </a:r>
            <a:r>
              <a:rPr kumimoji="0" lang="en-US" altLang="en-US" sz="1600" b="0" i="0" u="none" strike="noStrike" cap="none" normalizeH="0" baseline="0" dirty="0">
                <a:ln>
                  <a:noFill/>
                </a:ln>
                <a:solidFill>
                  <a:schemeClr val="tx1"/>
                </a:solidFill>
                <a:effectLst/>
                <a:latin typeface="Arial" panose="020B0604020202020204" pitchFamily="34" charset="0"/>
              </a:rPr>
              <a:t> – Computes the total number of bronze medals won across all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Total_Medals</a:t>
            </a:r>
            <a:r>
              <a:rPr kumimoji="0" lang="en-US" altLang="en-US" sz="1600" b="0" i="0" u="none" strike="noStrike" cap="none" normalizeH="0" baseline="0" dirty="0">
                <a:ln>
                  <a:noFill/>
                </a:ln>
                <a:solidFill>
                  <a:schemeClr val="tx1"/>
                </a:solidFill>
                <a:effectLst/>
                <a:latin typeface="Arial" panose="020B0604020202020204" pitchFamily="34" charset="0"/>
              </a:rPr>
              <a:t> – Calculates the combined total of gold, silver, and bronze medals.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Total_Male_Athletes_with_Gold_Medals</a:t>
            </a:r>
            <a:r>
              <a:rPr kumimoji="0" lang="en-US" altLang="en-US" sz="1600" b="0" i="0" u="none" strike="noStrike" cap="none" normalizeH="0" baseline="0" dirty="0">
                <a:ln>
                  <a:noFill/>
                </a:ln>
                <a:solidFill>
                  <a:schemeClr val="tx1"/>
                </a:solidFill>
                <a:effectLst/>
                <a:latin typeface="Arial" panose="020B0604020202020204" pitchFamily="34" charset="0"/>
              </a:rPr>
              <a:t> – Calculates the number of male athletes who have won gold medals.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Total_Female_Gold_Medals_Won</a:t>
            </a:r>
            <a:r>
              <a:rPr kumimoji="0" lang="en-US" altLang="en-US" sz="1600" b="0" i="0" u="none" strike="noStrike" cap="none" normalizeH="0" baseline="0" dirty="0">
                <a:ln>
                  <a:noFill/>
                </a:ln>
                <a:solidFill>
                  <a:schemeClr val="tx1"/>
                </a:solidFill>
                <a:effectLst/>
                <a:latin typeface="Arial" panose="020B0604020202020204" pitchFamily="34" charset="0"/>
              </a:rPr>
              <a:t> – Calculates the total number of gold medals won by female athletes.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Top_Performance_Country</a:t>
            </a:r>
            <a:r>
              <a:rPr kumimoji="0" lang="en-US" altLang="en-US" sz="1600" b="0" i="0" u="none" strike="noStrike" cap="none" normalizeH="0" baseline="0" dirty="0">
                <a:ln>
                  <a:noFill/>
                </a:ln>
                <a:solidFill>
                  <a:schemeClr val="tx1"/>
                </a:solidFill>
                <a:effectLst/>
                <a:latin typeface="Arial" panose="020B0604020202020204" pitchFamily="34" charset="0"/>
              </a:rPr>
              <a:t> – Identifies the country with the highest overall medal 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Highlights</a:t>
            </a:r>
            <a:r>
              <a:rPr kumimoji="0" lang="en-US" altLang="en-US" sz="1600" b="0" i="0" u="none" strike="noStrike" cap="none" normalizeH="0" baseline="0" dirty="0">
                <a:ln>
                  <a:noFill/>
                </a:ln>
                <a:solidFill>
                  <a:schemeClr val="tx1"/>
                </a:solidFill>
                <a:effectLst/>
                <a:latin typeface="Arial" panose="020B0604020202020204" pitchFamily="34" charset="0"/>
              </a:rPr>
              <a:t> – Displays key insights and summary information derived from Olympic performance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31BF1-8DE8-B36C-767B-25ED39AA2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D0D21-830A-910F-C102-9D922EC69AB0}"/>
              </a:ext>
            </a:extLst>
          </p:cNvPr>
          <p:cNvSpPr>
            <a:spLocks noGrp="1"/>
          </p:cNvSpPr>
          <p:nvPr>
            <p:ph type="title"/>
          </p:nvPr>
        </p:nvSpPr>
        <p:spPr/>
        <p:txBody>
          <a:bodyPr/>
          <a:lstStyle/>
          <a:p>
            <a:r>
              <a:t>Client Use Cases</a:t>
            </a:r>
          </a:p>
        </p:txBody>
      </p:sp>
      <p:sp>
        <p:nvSpPr>
          <p:cNvPr id="4" name="Rectangle 1">
            <a:extLst>
              <a:ext uri="{FF2B5EF4-FFF2-40B4-BE49-F238E27FC236}">
                <a16:creationId xmlns:a16="http://schemas.microsoft.com/office/drawing/2014/main" id="{32D5C5AF-BF88-90CD-CE75-31276157153F}"/>
              </a:ext>
            </a:extLst>
          </p:cNvPr>
          <p:cNvSpPr>
            <a:spLocks noGrp="1" noChangeArrowheads="1"/>
          </p:cNvSpPr>
          <p:nvPr>
            <p:ph idx="1"/>
          </p:nvPr>
        </p:nvSpPr>
        <p:spPr bwMode="auto">
          <a:xfrm>
            <a:off x="366311" y="1703175"/>
            <a:ext cx="841137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Sports Authority of India (SAI):</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Analyze athlete participation, medal performance, and gender distribution to improve training and talent development programs.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Indian Olympic Association (IOA):</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Track India’s medal performance across sports and compare it with other countries for strategic planning.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Sports Federations (Athletics, Shooting, Wrestling):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Identify strong and weak sports categories to allocate funding and coaching resources effectively.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Government &amp; Policy Makers: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 participation and performance data to design long-term sports development policies.</a:t>
            </a:r>
          </a:p>
        </p:txBody>
      </p:sp>
    </p:spTree>
    <p:extLst>
      <p:ext uri="{BB962C8B-B14F-4D97-AF65-F5344CB8AC3E}">
        <p14:creationId xmlns:p14="http://schemas.microsoft.com/office/powerpoint/2010/main" val="2708597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Use Cases</a:t>
            </a:r>
          </a:p>
        </p:txBody>
      </p:sp>
      <p:sp>
        <p:nvSpPr>
          <p:cNvPr id="4" name="Rectangle 1">
            <a:extLst>
              <a:ext uri="{FF2B5EF4-FFF2-40B4-BE49-F238E27FC236}">
                <a16:creationId xmlns:a16="http://schemas.microsoft.com/office/drawing/2014/main" id="{25E8DEDB-AA7D-63A0-6D38-53398BFB66EC}"/>
              </a:ext>
            </a:extLst>
          </p:cNvPr>
          <p:cNvSpPr>
            <a:spLocks noGrp="1" noChangeArrowheads="1"/>
          </p:cNvSpPr>
          <p:nvPr>
            <p:ph idx="1"/>
          </p:nvPr>
        </p:nvSpPr>
        <p:spPr bwMode="auto">
          <a:xfrm>
            <a:off x="187287" y="1847730"/>
            <a:ext cx="88024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Media &amp; Sports Broadcasters: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Generate quick insights, rankings, and performance summaries for Olympic coverage and storytelling.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Sponsors &amp; Brand Partners: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Identify high-visibility sports, countries, and athletes to optimize sponsorship investments.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Event Organizers: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Analyze participation trends to improve event planning and scheduling.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Analysts &amp; Researchers: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 the dashboard for performance analysis, reporting, and research studies.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Overview</a:t>
            </a:r>
          </a:p>
        </p:txBody>
      </p:sp>
      <p:pic>
        <p:nvPicPr>
          <p:cNvPr id="3" name="Picture 2" descr="Screenshot 2026-02-06 081249.png"/>
          <p:cNvPicPr>
            <a:picLocks noChangeAspect="1"/>
          </p:cNvPicPr>
          <p:nvPr/>
        </p:nvPicPr>
        <p:blipFill>
          <a:blip r:embed="rId2"/>
          <a:stretch>
            <a:fillRect/>
          </a:stretch>
        </p:blipFill>
        <p:spPr>
          <a:xfrm>
            <a:off x="914400" y="1371600"/>
            <a:ext cx="7315200" cy="384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Athletes Analysis</a:t>
            </a:r>
          </a:p>
        </p:txBody>
      </p:sp>
      <p:pic>
        <p:nvPicPr>
          <p:cNvPr id="3" name="Picture 2" descr="Screenshot 2026-02-06 081301.png"/>
          <p:cNvPicPr>
            <a:picLocks noChangeAspect="1"/>
          </p:cNvPicPr>
          <p:nvPr/>
        </p:nvPicPr>
        <p:blipFill>
          <a:blip r:embed="rId2"/>
          <a:stretch>
            <a:fillRect/>
          </a:stretch>
        </p:blipFill>
        <p:spPr>
          <a:xfrm>
            <a:off x="914400" y="1371600"/>
            <a:ext cx="7315200" cy="384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Country Analysis</a:t>
            </a:r>
          </a:p>
        </p:txBody>
      </p:sp>
      <p:pic>
        <p:nvPicPr>
          <p:cNvPr id="3" name="Picture 2" descr="Screenshot 2026-02-06 081313.png"/>
          <p:cNvPicPr>
            <a:picLocks noChangeAspect="1"/>
          </p:cNvPicPr>
          <p:nvPr/>
        </p:nvPicPr>
        <p:blipFill>
          <a:blip r:embed="rId2"/>
          <a:stretch>
            <a:fillRect/>
          </a:stretch>
        </p:blipFill>
        <p:spPr>
          <a:xfrm>
            <a:off x="914400" y="1371600"/>
            <a:ext cx="7315200" cy="3840480"/>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416</TotalTime>
  <Words>704</Words>
  <Application>Microsoft Office PowerPoint</Application>
  <PresentationFormat>On-screen Show (4:3)</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 3</vt:lpstr>
      <vt:lpstr>Facet</vt:lpstr>
      <vt:lpstr>Paris Olympics 2024 – Power BI Dashboard</vt:lpstr>
      <vt:lpstr>Problem Statement</vt:lpstr>
      <vt:lpstr>Aim of the Project</vt:lpstr>
      <vt:lpstr>DAX Functions Used</vt:lpstr>
      <vt:lpstr>Client Use Cases</vt:lpstr>
      <vt:lpstr>Client Use Cases</vt:lpstr>
      <vt:lpstr>Dashboard Overview</vt:lpstr>
      <vt:lpstr>Athletes Analysis</vt:lpstr>
      <vt:lpstr>Country Analysis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Bhuvan P</cp:lastModifiedBy>
  <cp:revision>3</cp:revision>
  <dcterms:created xsi:type="dcterms:W3CDTF">2013-01-27T09:14:16Z</dcterms:created>
  <dcterms:modified xsi:type="dcterms:W3CDTF">2026-02-06T09:50:16Z</dcterms:modified>
  <cp:category/>
</cp:coreProperties>
</file>